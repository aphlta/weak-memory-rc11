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51960" cy="6858000"/>
          </a:xfrm>
          <a:prstGeom prst="rect">
            <a:avLst/>
          </a:prstGeom>
          <a:solidFill>
            <a:srgbClr val="123B66"/>
          </a:solidFill>
          <a:ln w="12700">
            <a:solidFill>
              <a:srgbClr val="123B6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251960" y="594360"/>
            <a:ext cx="7269480" cy="1097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0972800" y="502920"/>
            <a:ext cx="868680" cy="868680"/>
          </a:xfrm>
          <a:prstGeom prst="rect">
            <a:avLst/>
          </a:prstGeom>
          <a:solidFill>
            <a:srgbClr val="D9F3F8">
              <a:alpha val="90000"/>
            </a:srgbClr>
          </a:solidFill>
          <a:ln w="12700">
            <a:solidFill>
              <a:srgbClr val="D9F3F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">
            <a:off x="11137392" y="1664208"/>
            <a:ext cx="475488" cy="475488"/>
          </a:xfrm>
          <a:prstGeom prst="rect">
            <a:avLst/>
          </a:prstGeom>
          <a:solidFill>
            <a:srgbClr val="0891B2">
              <a:alpha val="22000"/>
            </a:srgbClr>
          </a:solidFill>
          <a:ln w="12700">
            <a:solidFill>
              <a:srgbClr val="0891B2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8686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硕士开题答辩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58368" y="146304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面向 RC11 弱内存模型的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并发程序自动验证与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状态空间约简方法研究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58368" y="38404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9F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Weak Memory • RC11 • Verification • State-space Reduction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663440" y="11430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研究问题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63440" y="1490472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23B6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如何在弱内存语义下，对并发程序进行更高效的自动验证？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4663440" y="2423160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2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本课题选择 RC11/RA 子模型作为切入点，将研究重点放在候选执行图的约简与原型工具实现上，目标是在保证语义正确性的前提下，降低验证中的搜索代价。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4663440" y="3794760"/>
            <a:ext cx="196596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28032" y="3959352"/>
            <a:ext cx="1636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B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学生姓名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828032" y="4270248"/>
            <a:ext cx="163677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NaN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请在此处填写</a:t>
            </a:r>
            <a:endParaRPr lang="en-US" sz="NaN" dirty="0"/>
          </a:p>
        </p:txBody>
      </p:sp>
      <p:sp>
        <p:nvSpPr>
          <p:cNvPr id="15" name="Shape 13"/>
          <p:cNvSpPr/>
          <p:nvPr/>
        </p:nvSpPr>
        <p:spPr>
          <a:xfrm>
            <a:off x="6812280" y="3794760"/>
            <a:ext cx="196596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76872" y="3959352"/>
            <a:ext cx="1636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B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指导教师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976872" y="4270248"/>
            <a:ext cx="163677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NaN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请在此处填写</a:t>
            </a:r>
            <a:endParaRPr lang="en-US" sz="NaN" dirty="0"/>
          </a:p>
        </p:txBody>
      </p:sp>
      <p:sp>
        <p:nvSpPr>
          <p:cNvPr id="18" name="Shape 16"/>
          <p:cNvSpPr/>
          <p:nvPr/>
        </p:nvSpPr>
        <p:spPr>
          <a:xfrm>
            <a:off x="8961120" y="3794760"/>
            <a:ext cx="196596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25712" y="3959352"/>
            <a:ext cx="1636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B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学院专业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125712" y="4270248"/>
            <a:ext cx="163677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NaN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请在此处填写</a:t>
            </a:r>
            <a:endParaRPr lang="en-US" sz="NaN" dirty="0"/>
          </a:p>
        </p:txBody>
      </p:sp>
      <p:sp>
        <p:nvSpPr>
          <p:cNvPr id="21" name="Shape 19"/>
          <p:cNvSpPr/>
          <p:nvPr/>
        </p:nvSpPr>
        <p:spPr>
          <a:xfrm>
            <a:off x="4663440" y="5230368"/>
            <a:ext cx="6263640" cy="841248"/>
          </a:xfrm>
          <a:prstGeom prst="roundRect">
            <a:avLst>
              <a:gd name="adj" fmla="val 6522"/>
            </a:avLst>
          </a:prstGeom>
          <a:solidFill>
            <a:srgbClr val="D9F3F8"/>
          </a:solidFill>
          <a:ln w="12700">
            <a:solidFill>
              <a:srgbClr val="D9F3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28032" y="5394960"/>
            <a:ext cx="5934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B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日期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828032" y="5705856"/>
            <a:ext cx="5934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NaN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2026 年 9 月</a:t>
            </a:r>
            <a:endParaRPr lang="en-US" sz="NaN" dirty="0"/>
          </a:p>
        </p:txBody>
      </p:sp>
      <p:sp>
        <p:nvSpPr>
          <p:cNvPr id="24" name="AILabel"/>
          <p:cNvSpPr txBox="1"/>
          <p:nvPr/>
        </p:nvSpPr>
        <p:spPr>
          <a:xfrm>
            <a:off x="9612000" y="6278000"/>
            <a:ext cx="2400000" cy="400000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FFFFFF"/>
            </a:solidFill>
          </a:ln>
        </p:spPr>
        <p:txBody>
          <a:bodyPr wrap="square" rtlCol="0" anchor="ctr" lIns="91440" tIns="45720" rIns="91440" bIns="45720"/>
          <a:lstStyle/>
          <a:p>
            <a:pPr algn="ctr"/>
            <a:r>
              <a:rPr lang="zh-CN" sz="1400" b="1" dirty="0">
                <a:solidFill>
                  <a:srgbClr val="FFFFFF"/>
                </a:solidFill>
                <a:latin typeface="Arial"/>
                <a:ea typeface="SimSun"/>
              </a:rPr>
              <a:t>Contains AI-generated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23B66"/>
          </a:solidFill>
          <a:ln w="12700">
            <a:solidFill>
              <a:srgbClr val="123B6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6419088"/>
            <a:ext cx="11292840" cy="0"/>
          </a:xfrm>
          <a:prstGeom prst="line">
            <a:avLst/>
          </a:prstGeom>
          <a:noFill/>
          <a:ln w="12700">
            <a:solidFill>
              <a:srgbClr val="D7E3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645566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弱内存自动验证开题答辩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58368" y="411480"/>
            <a:ext cx="512064" cy="310896"/>
          </a:xfrm>
          <a:prstGeom prst="roundRect">
            <a:avLst>
              <a:gd name="adj" fmla="val 17647"/>
            </a:avLst>
          </a:prstGeom>
          <a:solidFill>
            <a:srgbClr val="0891B2"/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452628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25880" y="347472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B6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汇报目录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25880" y="758952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本次汇报围绕问题来源、研究设计与预期成果展开。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914400" y="1417320"/>
            <a:ext cx="4617720" cy="822960"/>
          </a:xfrm>
          <a:prstGeom prst="roundRect">
            <a:avLst>
              <a:gd name="adj" fmla="val 6667"/>
            </a:avLst>
          </a:prstGeom>
          <a:solidFill>
            <a:srgbClr val="D9F3F8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1581912"/>
            <a:ext cx="4288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891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78992" y="1892808"/>
            <a:ext cx="4288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研究背景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417320"/>
            <a:ext cx="461772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82512" y="1581912"/>
            <a:ext cx="4288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891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382512" y="1892808"/>
            <a:ext cx="4288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核心问题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400" y="2532888"/>
            <a:ext cx="461772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78992" y="2697480"/>
            <a:ext cx="4288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891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78992" y="3008376"/>
            <a:ext cx="4288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国内外研究现状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2532888"/>
            <a:ext cx="461772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82512" y="2697480"/>
            <a:ext cx="4288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891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382512" y="3008376"/>
            <a:ext cx="4288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选题切入点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14400" y="3648456"/>
            <a:ext cx="461772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78992" y="3813048"/>
            <a:ext cx="4288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891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078992" y="4123944"/>
            <a:ext cx="4288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研究目标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17920" y="3648456"/>
            <a:ext cx="461772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82512" y="3813048"/>
            <a:ext cx="4288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891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382512" y="4123944"/>
            <a:ext cx="4288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研究内容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14400" y="4764024"/>
            <a:ext cx="461772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78992" y="4928616"/>
            <a:ext cx="4288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891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078992" y="5239512"/>
            <a:ext cx="4288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技术路线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17920" y="4764024"/>
            <a:ext cx="461772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82512" y="4928616"/>
            <a:ext cx="4288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891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382512" y="5239512"/>
            <a:ext cx="4288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创新点与计划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14400" y="5806440"/>
            <a:ext cx="10012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汇报逻辑：先说明为什么这个问题值得做，再说明为什么选择 RC11/RA，最后展示具体的研究方案与推进路径。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23B66"/>
          </a:solidFill>
          <a:ln w="12700">
            <a:solidFill>
              <a:srgbClr val="123B6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6419088"/>
            <a:ext cx="11292840" cy="0"/>
          </a:xfrm>
          <a:prstGeom prst="line">
            <a:avLst/>
          </a:prstGeom>
          <a:noFill/>
          <a:ln w="12700">
            <a:solidFill>
              <a:srgbClr val="D7E3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645566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弱内存自动验证开题答辩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58368" y="411480"/>
            <a:ext cx="512064" cy="310896"/>
          </a:xfrm>
          <a:prstGeom prst="roundRect">
            <a:avLst>
              <a:gd name="adj" fmla="val 17647"/>
            </a:avLst>
          </a:prstGeom>
          <a:solidFill>
            <a:srgbClr val="0891B2"/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452628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25880" y="347472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B6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研究背景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25880" y="758952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弱内存使并发程序的真实执行行为超出顺序一致性假设。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914400" y="1417320"/>
            <a:ext cx="4983480" cy="4480560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1581912"/>
            <a:ext cx="4654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B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传统并发验证的默认前提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115568" y="1828800"/>
            <a:ext cx="4526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很多验证方法默认线程执行可被看作简单交错。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顺序一致性假设下，程序行为更容易被枚举和解释。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但这种假设与现代处理器、编译器优化并不完全一致。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172200" y="1417320"/>
            <a:ext cx="5074920" cy="4480560"/>
          </a:xfrm>
          <a:prstGeom prst="roundRect">
            <a:avLst>
              <a:gd name="adj" fmla="val 1224"/>
            </a:avLst>
          </a:prstGeom>
          <a:solidFill>
            <a:srgbClr val="F2FBFD"/>
          </a:solidFill>
          <a:ln w="12700">
            <a:solidFill>
              <a:srgbClr val="D9F3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1581912"/>
            <a:ext cx="4745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B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弱内存带来的变化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382512" y="1828800"/>
            <a:ext cx="45720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现代硬件与语言标准普遍采用弱内存模型以提升性能。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程序允许观察到更多合法执行，行为不再仅由简单交错决定。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因此，自动验证需要同时处理更多候选执行与更复杂的语义约束。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879592" y="2377440"/>
            <a:ext cx="164592" cy="0"/>
          </a:xfrm>
          <a:prstGeom prst="line">
            <a:avLst/>
          </a:prstGeom>
          <a:noFill/>
          <a:ln w="12700">
            <a:solidFill>
              <a:srgbClr val="0891B2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914400" y="5989320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B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结论：弱内存不是“更难一点的并发”，而是验证前提本身发生了变化。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23B66"/>
          </a:solidFill>
          <a:ln w="12700">
            <a:solidFill>
              <a:srgbClr val="123B6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6419088"/>
            <a:ext cx="11292840" cy="0"/>
          </a:xfrm>
          <a:prstGeom prst="line">
            <a:avLst/>
          </a:prstGeom>
          <a:noFill/>
          <a:ln w="12700">
            <a:solidFill>
              <a:srgbClr val="D7E3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645566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弱内存自动验证开题答辩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58368" y="411480"/>
            <a:ext cx="512064" cy="310896"/>
          </a:xfrm>
          <a:prstGeom prst="roundRect">
            <a:avLst>
              <a:gd name="adj" fmla="val 17647"/>
            </a:avLst>
          </a:prstGeom>
          <a:solidFill>
            <a:srgbClr val="0891B2"/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452628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25880" y="347472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B6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核心问题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25880" y="758952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真正的瓶颈不是能不能验证，而是验证成本能不能降下来。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914400" y="1554480"/>
            <a:ext cx="3246120" cy="338328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1719072"/>
            <a:ext cx="2916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B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问题一：执行数量膨胀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78992" y="2029968"/>
            <a:ext cx="2916936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NaN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弱内存允许更多读写可见性组合，候选执行显著多于顺序一致性场景。</a:t>
            </a:r>
            <a:endParaRPr lang="en-US" sz="NaN" dirty="0"/>
          </a:p>
        </p:txBody>
      </p:sp>
      <p:sp>
        <p:nvSpPr>
          <p:cNvPr id="12" name="Shape 10"/>
          <p:cNvSpPr/>
          <p:nvPr/>
        </p:nvSpPr>
        <p:spPr>
          <a:xfrm>
            <a:off x="4480560" y="1554480"/>
            <a:ext cx="3246120" cy="338328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45152" y="1719072"/>
            <a:ext cx="2916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B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问题二：语义关系复杂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645152" y="2029968"/>
            <a:ext cx="2916936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NaN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验证过程需要处理 reads-from、modification order、happens-before 等多类关系。</a:t>
            </a:r>
            <a:endParaRPr lang="en-US" sz="NaN" dirty="0"/>
          </a:p>
        </p:txBody>
      </p:sp>
      <p:sp>
        <p:nvSpPr>
          <p:cNvPr id="15" name="Shape 13"/>
          <p:cNvSpPr/>
          <p:nvPr/>
        </p:nvSpPr>
        <p:spPr>
          <a:xfrm>
            <a:off x="8046720" y="1554480"/>
            <a:ext cx="3246120" cy="338328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11312" y="1719072"/>
            <a:ext cx="2916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B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问题三：工具扩展受限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211312" y="2029968"/>
            <a:ext cx="2916936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NaN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若缺少有效约简，小程序能跑，大一点的 benchmark 就容易失控。</a:t>
            </a:r>
            <a:endParaRPr lang="en-US" sz="NaN" dirty="0"/>
          </a:p>
        </p:txBody>
      </p:sp>
      <p:sp>
        <p:nvSpPr>
          <p:cNvPr id="18" name="Text 16"/>
          <p:cNvSpPr/>
          <p:nvPr/>
        </p:nvSpPr>
        <p:spPr>
          <a:xfrm>
            <a:off x="914400" y="53949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对应研究思路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566928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用更适合算法处理的执行表示承接语义，再通过状态空间约简降低搜索规模，最终落地为原型工具。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23B66"/>
          </a:solidFill>
          <a:ln w="12700">
            <a:solidFill>
              <a:srgbClr val="123B6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6419088"/>
            <a:ext cx="11292840" cy="0"/>
          </a:xfrm>
          <a:prstGeom prst="line">
            <a:avLst/>
          </a:prstGeom>
          <a:noFill/>
          <a:ln w="12700">
            <a:solidFill>
              <a:srgbClr val="D7E3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645566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弱内存自动验证开题答辩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58368" y="411480"/>
            <a:ext cx="512064" cy="310896"/>
          </a:xfrm>
          <a:prstGeom prst="roundRect">
            <a:avLst>
              <a:gd name="adj" fmla="val 17647"/>
            </a:avLst>
          </a:prstGeom>
          <a:solidFill>
            <a:srgbClr val="0891B2"/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452628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25880" y="347472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B6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国内外研究现状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25880" y="758952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现有研究已经证明弱内存可被形式化与分析，但高效验证仍是难点。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68680" y="1463040"/>
            <a:ext cx="3474720" cy="4023360"/>
          </a:xfrm>
          <a:prstGeom prst="roundRect">
            <a:avLst>
              <a:gd name="adj" fmla="val 1579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3272" y="1627632"/>
            <a:ext cx="3145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B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主线一：模型形式化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33272" y="1938528"/>
            <a:ext cx="3145536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NaN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围绕 weak memory 的 axiomatic / operational 描述已形成较完整体系，明确了不同层次的行为定义方式。</a:t>
            </a:r>
            <a:endParaRPr lang="en-US" sz="NaN" dirty="0"/>
          </a:p>
        </p:txBody>
      </p:sp>
      <p:sp>
        <p:nvSpPr>
          <p:cNvPr id="12" name="Shape 10"/>
          <p:cNvSpPr/>
          <p:nvPr/>
        </p:nvSpPr>
        <p:spPr>
          <a:xfrm>
            <a:off x="4370832" y="1463040"/>
            <a:ext cx="3474720" cy="4023360"/>
          </a:xfrm>
          <a:prstGeom prst="roundRect">
            <a:avLst>
              <a:gd name="adj" fmla="val 1579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35424" y="1627632"/>
            <a:ext cx="3145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B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主线二：语言语义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35424" y="1938528"/>
            <a:ext cx="3145536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NaN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C/C++11 并发语义的 operational 化，使候选执行可以被逐步构造，为自动验证打下基础。</a:t>
            </a:r>
            <a:endParaRPr lang="en-US" sz="NaN" dirty="0"/>
          </a:p>
        </p:txBody>
      </p:sp>
      <p:sp>
        <p:nvSpPr>
          <p:cNvPr id="15" name="Shape 13"/>
          <p:cNvSpPr/>
          <p:nvPr/>
        </p:nvSpPr>
        <p:spPr>
          <a:xfrm>
            <a:off x="7872984" y="1463040"/>
            <a:ext cx="3474720" cy="4023360"/>
          </a:xfrm>
          <a:prstGeom prst="roundRect">
            <a:avLst>
              <a:gd name="adj" fmla="val 1579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37576" y="1627632"/>
            <a:ext cx="3145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B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主线三：验证工具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037576" y="1938528"/>
            <a:ext cx="3145536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NaN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程序变换、执行图搜索与模块化验证等方法已出现，但搜索规模和可扩展性仍受限制。</a:t>
            </a:r>
            <a:endParaRPr lang="en-US" sz="NaN" dirty="0"/>
          </a:p>
        </p:txBody>
      </p:sp>
      <p:sp>
        <p:nvSpPr>
          <p:cNvPr id="18" name="Shape 16"/>
          <p:cNvSpPr/>
          <p:nvPr/>
        </p:nvSpPr>
        <p:spPr>
          <a:xfrm>
            <a:off x="868680" y="5650992"/>
            <a:ext cx="10469880" cy="502920"/>
          </a:xfrm>
          <a:prstGeom prst="roundRect">
            <a:avLst>
              <a:gd name="adj" fmla="val 7273"/>
            </a:avLst>
          </a:prstGeom>
          <a:solidFill>
            <a:srgbClr val="D9F3F8"/>
          </a:solidFill>
          <a:ln w="12700">
            <a:solidFill>
              <a:srgbClr val="D9F3F8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8992" y="5788152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123B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现有不足：很多方法更适合小型 litmus tests；在 RC11/RA 子模型上，仍缺少兼顾正确性、效率与轻量实现的自动验证框架。</a:t>
            </a:r>
            <a:endParaRPr lang="en-US" sz="11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23B66"/>
          </a:solidFill>
          <a:ln w="12700">
            <a:solidFill>
              <a:srgbClr val="123B6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6419088"/>
            <a:ext cx="11292840" cy="0"/>
          </a:xfrm>
          <a:prstGeom prst="line">
            <a:avLst/>
          </a:prstGeom>
          <a:noFill/>
          <a:ln w="12700">
            <a:solidFill>
              <a:srgbClr val="D7E3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645566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弱内存自动验证开题答辩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58368" y="411480"/>
            <a:ext cx="512064" cy="310896"/>
          </a:xfrm>
          <a:prstGeom prst="roundRect">
            <a:avLst>
              <a:gd name="adj" fmla="val 17647"/>
            </a:avLst>
          </a:prstGeom>
          <a:solidFill>
            <a:srgbClr val="0891B2"/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452628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25880" y="347472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B6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选题切入点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25880" y="758952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先缩小模型范围，再把验证做深。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14400" y="132588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如果一开始就覆盖完整 C/C++11、RISC-V、GPU 等多个层次，问题会迅速失控；因此本课题选择代表性更强、边界更可控的 RC11/RA 子模型作为切入点。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14400" y="2743200"/>
            <a:ext cx="214884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8992" y="29077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78992" y="3182112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B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完整弱内存大图景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078992" y="3840480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问题太大，语义层次过多</a:t>
            </a:r>
            <a:endParaRPr lang="en-US" sz="1040" dirty="0"/>
          </a:p>
        </p:txBody>
      </p:sp>
      <p:sp>
        <p:nvSpPr>
          <p:cNvPr id="14" name="Shape 12"/>
          <p:cNvSpPr/>
          <p:nvPr/>
        </p:nvSpPr>
        <p:spPr>
          <a:xfrm>
            <a:off x="3154680" y="3657600"/>
            <a:ext cx="301752" cy="0"/>
          </a:xfrm>
          <a:prstGeom prst="line">
            <a:avLst/>
          </a:prstGeom>
          <a:noFill/>
          <a:ln w="12700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611880" y="2743200"/>
            <a:ext cx="2148840" cy="1828800"/>
          </a:xfrm>
          <a:prstGeom prst="roundRect">
            <a:avLst>
              <a:gd name="adj" fmla="val 3000"/>
            </a:avLst>
          </a:prstGeom>
          <a:solidFill>
            <a:srgbClr val="F2FBFD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76472" y="29077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776472" y="3182112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B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RC11 / RA 子模型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776472" y="3840480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保留关键难点，范围更可控</a:t>
            </a:r>
            <a:endParaRPr lang="en-US" sz="1040" dirty="0"/>
          </a:p>
        </p:txBody>
      </p:sp>
      <p:sp>
        <p:nvSpPr>
          <p:cNvPr id="19" name="Shape 17"/>
          <p:cNvSpPr/>
          <p:nvPr/>
        </p:nvSpPr>
        <p:spPr>
          <a:xfrm>
            <a:off x="5852160" y="3657600"/>
            <a:ext cx="301752" cy="0"/>
          </a:xfrm>
          <a:prstGeom prst="line">
            <a:avLst/>
          </a:prstGeom>
          <a:noFill/>
          <a:ln w="12700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309360" y="2743200"/>
            <a:ext cx="2148840" cy="1828800"/>
          </a:xfrm>
          <a:prstGeom prst="roundRect">
            <a:avLst>
              <a:gd name="adj" fmla="val 3000"/>
            </a:avLst>
          </a:prstGeom>
          <a:solidFill>
            <a:srgbClr val="F2FBFD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73952" y="29077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73952" y="3182112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B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执行图约简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73952" y="3840480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把主要创新放在降低搜索代价</a:t>
            </a:r>
            <a:endParaRPr lang="en-US" sz="1040" dirty="0"/>
          </a:p>
        </p:txBody>
      </p:sp>
      <p:sp>
        <p:nvSpPr>
          <p:cNvPr id="24" name="Shape 22"/>
          <p:cNvSpPr/>
          <p:nvPr/>
        </p:nvSpPr>
        <p:spPr>
          <a:xfrm>
            <a:off x="8549640" y="3657600"/>
            <a:ext cx="301752" cy="0"/>
          </a:xfrm>
          <a:prstGeom prst="line">
            <a:avLst/>
          </a:prstGeom>
          <a:noFill/>
          <a:ln w="12700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006840" y="2743200"/>
            <a:ext cx="214884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71432" y="29077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171432" y="3182112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B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原型工具与评测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171432" y="3840480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形成可答辩、可验证的成果链条</a:t>
            </a:r>
            <a:endParaRPr lang="en-US" sz="10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23B66"/>
          </a:solidFill>
          <a:ln w="12700">
            <a:solidFill>
              <a:srgbClr val="123B6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6419088"/>
            <a:ext cx="11292840" cy="0"/>
          </a:xfrm>
          <a:prstGeom prst="line">
            <a:avLst/>
          </a:prstGeom>
          <a:noFill/>
          <a:ln w="12700">
            <a:solidFill>
              <a:srgbClr val="D7E3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645566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弱内存自动验证开题答辩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58368" y="411480"/>
            <a:ext cx="512064" cy="310896"/>
          </a:xfrm>
          <a:prstGeom prst="roundRect">
            <a:avLst>
              <a:gd name="adj" fmla="val 17647"/>
            </a:avLst>
          </a:prstGeom>
          <a:solidFill>
            <a:srgbClr val="0891B2"/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452628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25880" y="347472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B6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研究目标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25880" y="758952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围绕“表示 - 约简 - 验证 - 评测”形成完整闭环。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914400" y="1554480"/>
            <a:ext cx="4754880" cy="1417320"/>
          </a:xfrm>
          <a:prstGeom prst="roundRect">
            <a:avLst>
              <a:gd name="adj" fmla="val 3871"/>
            </a:avLst>
          </a:prstGeom>
          <a:solidFill>
            <a:srgbClr val="D9F3F8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1719072"/>
            <a:ext cx="4425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B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 1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78992" y="2029968"/>
            <a:ext cx="44256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NaN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构建适用于 RC11/RA 子模型的程序执行表示。</a:t>
            </a:r>
            <a:endParaRPr lang="en-US" sz="NaN" dirty="0"/>
          </a:p>
        </p:txBody>
      </p:sp>
      <p:sp>
        <p:nvSpPr>
          <p:cNvPr id="12" name="Shape 10"/>
          <p:cNvSpPr/>
          <p:nvPr/>
        </p:nvSpPr>
        <p:spPr>
          <a:xfrm>
            <a:off x="6126480" y="1554480"/>
            <a:ext cx="475488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91072" y="1719072"/>
            <a:ext cx="4425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B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 2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291072" y="2029968"/>
            <a:ext cx="44256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NaN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识别执行图中的冗余来源并设计约简策略。</a:t>
            </a:r>
            <a:endParaRPr lang="en-US" sz="NaN" dirty="0"/>
          </a:p>
        </p:txBody>
      </p:sp>
      <p:sp>
        <p:nvSpPr>
          <p:cNvPr id="15" name="Shape 13"/>
          <p:cNvSpPr/>
          <p:nvPr/>
        </p:nvSpPr>
        <p:spPr>
          <a:xfrm>
            <a:off x="914400" y="3383280"/>
            <a:ext cx="475488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78992" y="3547872"/>
            <a:ext cx="4425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B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 3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78992" y="3858768"/>
            <a:ext cx="44256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NaN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实现支持数据竞争与断言违例检测的自动验证原型。</a:t>
            </a:r>
            <a:endParaRPr lang="en-US" sz="NaN" dirty="0"/>
          </a:p>
        </p:txBody>
      </p:sp>
      <p:sp>
        <p:nvSpPr>
          <p:cNvPr id="18" name="Shape 16"/>
          <p:cNvSpPr/>
          <p:nvPr/>
        </p:nvSpPr>
        <p:spPr>
          <a:xfrm>
            <a:off x="6126480" y="3383280"/>
            <a:ext cx="475488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91072" y="3547872"/>
            <a:ext cx="4425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B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 4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291072" y="3858768"/>
            <a:ext cx="44256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NaN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通过 litmus tests 与 benchmark 评估正确性与效率。</a:t>
            </a:r>
            <a:endParaRPr lang="en-US" sz="NaN" dirty="0"/>
          </a:p>
        </p:txBody>
      </p:sp>
      <p:sp>
        <p:nvSpPr>
          <p:cNvPr id="21" name="Text 19"/>
          <p:cNvSpPr/>
          <p:nvPr/>
        </p:nvSpPr>
        <p:spPr>
          <a:xfrm>
            <a:off x="914400" y="544068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四个目标之间的关系是递进的：先把语义表示清楚，再做搜索优化，最后通过实现与实验验证方案是否有效。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23B66"/>
          </a:solidFill>
          <a:ln w="12700">
            <a:solidFill>
              <a:srgbClr val="123B6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6419088"/>
            <a:ext cx="11292840" cy="0"/>
          </a:xfrm>
          <a:prstGeom prst="line">
            <a:avLst/>
          </a:prstGeom>
          <a:noFill/>
          <a:ln w="12700">
            <a:solidFill>
              <a:srgbClr val="D7E3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645566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弱内存自动验证开题答辩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58368" y="411480"/>
            <a:ext cx="512064" cy="310896"/>
          </a:xfrm>
          <a:prstGeom prst="roundRect">
            <a:avLst>
              <a:gd name="adj" fmla="val 17647"/>
            </a:avLst>
          </a:prstGeom>
          <a:solidFill>
            <a:srgbClr val="0891B2"/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452628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25880" y="347472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B6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研究内容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25880" y="758952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将问题拆成四个可独立推进又相互支撑的模块。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914400" y="1508760"/>
            <a:ext cx="1737360" cy="768096"/>
          </a:xfrm>
          <a:prstGeom prst="roundRect">
            <a:avLst>
              <a:gd name="adj" fmla="val 5952"/>
            </a:avLst>
          </a:prstGeom>
          <a:solidFill>
            <a:srgbClr val="0891B2"/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67335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880360" y="1472184"/>
            <a:ext cx="80924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44952" y="1636776"/>
            <a:ext cx="7763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B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程序执行表示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044952" y="1947672"/>
            <a:ext cx="77632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NaN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定义事件与关键关系，建立程序到候选执行图的映射。</a:t>
            </a:r>
            <a:endParaRPr lang="en-US" sz="NaN" dirty="0"/>
          </a:p>
        </p:txBody>
      </p:sp>
      <p:sp>
        <p:nvSpPr>
          <p:cNvPr id="14" name="Shape 12"/>
          <p:cNvSpPr/>
          <p:nvPr/>
        </p:nvSpPr>
        <p:spPr>
          <a:xfrm>
            <a:off x="914400" y="2624328"/>
            <a:ext cx="1737360" cy="768096"/>
          </a:xfrm>
          <a:prstGeom prst="roundRect">
            <a:avLst>
              <a:gd name="adj" fmla="val 5952"/>
            </a:avLst>
          </a:prstGeom>
          <a:solidFill>
            <a:srgbClr val="123B66"/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78892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880360" y="2587752"/>
            <a:ext cx="80924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44952" y="2752344"/>
            <a:ext cx="7763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B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状态空间约简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044952" y="3063240"/>
            <a:ext cx="77632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NaN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识别冗余执行和等价搜索路径，降低探索开销。</a:t>
            </a:r>
            <a:endParaRPr lang="en-US" sz="NaN" dirty="0"/>
          </a:p>
        </p:txBody>
      </p:sp>
      <p:sp>
        <p:nvSpPr>
          <p:cNvPr id="19" name="Shape 17"/>
          <p:cNvSpPr/>
          <p:nvPr/>
        </p:nvSpPr>
        <p:spPr>
          <a:xfrm>
            <a:off x="914400" y="3739896"/>
            <a:ext cx="1737360" cy="768096"/>
          </a:xfrm>
          <a:prstGeom prst="roundRect">
            <a:avLst>
              <a:gd name="adj" fmla="val 5952"/>
            </a:avLst>
          </a:prstGeom>
          <a:solidFill>
            <a:srgbClr val="0891B2"/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9044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2880360" y="3703320"/>
            <a:ext cx="80924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44952" y="3867912"/>
            <a:ext cx="7763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B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自动验证算法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044952" y="4178808"/>
            <a:ext cx="77632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NaN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首先支持数据竞争与断言违例两类典型任务。</a:t>
            </a:r>
            <a:endParaRPr lang="en-US" sz="NaN" dirty="0"/>
          </a:p>
        </p:txBody>
      </p:sp>
      <p:sp>
        <p:nvSpPr>
          <p:cNvPr id="24" name="Shape 22"/>
          <p:cNvSpPr/>
          <p:nvPr/>
        </p:nvSpPr>
        <p:spPr>
          <a:xfrm>
            <a:off x="914400" y="4855464"/>
            <a:ext cx="1737360" cy="768096"/>
          </a:xfrm>
          <a:prstGeom prst="roundRect">
            <a:avLst>
              <a:gd name="adj" fmla="val 5952"/>
            </a:avLst>
          </a:prstGeom>
          <a:solidFill>
            <a:srgbClr val="123B66"/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502005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2880360" y="4818888"/>
            <a:ext cx="80924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44952" y="4983480"/>
            <a:ext cx="7763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B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原型实现与评测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3044952" y="5294376"/>
            <a:ext cx="77632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NaN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实现工具原型，并用 litmus tests 与 benchmark 做比较。</a:t>
            </a:r>
            <a:endParaRPr lang="en-US" sz="Na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23B66"/>
          </a:solidFill>
          <a:ln w="12700">
            <a:solidFill>
              <a:srgbClr val="123B6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6419088"/>
            <a:ext cx="11292840" cy="0"/>
          </a:xfrm>
          <a:prstGeom prst="line">
            <a:avLst/>
          </a:prstGeom>
          <a:noFill/>
          <a:ln w="12700">
            <a:solidFill>
              <a:srgbClr val="D7E3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645566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弱内存自动验证开题答辩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58368" y="411480"/>
            <a:ext cx="512064" cy="310896"/>
          </a:xfrm>
          <a:prstGeom prst="roundRect">
            <a:avLst>
              <a:gd name="adj" fmla="val 17647"/>
            </a:avLst>
          </a:prstGeom>
          <a:solidFill>
            <a:srgbClr val="0891B2"/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452628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25880" y="347472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B6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技术路线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25880" y="758952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从模型选择到实验验证，逐步推进。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68680" y="1691640"/>
            <a:ext cx="28346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85623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435608" y="1819656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23B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选定 RC11 / RA 子模型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3739896" y="2221992"/>
            <a:ext cx="365760" cy="0"/>
          </a:xfrm>
          <a:prstGeom prst="line">
            <a:avLst/>
          </a:prstGeom>
          <a:noFill/>
          <a:ln w="12700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572000" y="1691640"/>
            <a:ext cx="28346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185623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138928" y="1819656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23B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建立程序到执行图的映射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7443216" y="2221992"/>
            <a:ext cx="365760" cy="0"/>
          </a:xfrm>
          <a:prstGeom prst="line">
            <a:avLst/>
          </a:prstGeom>
          <a:noFill/>
          <a:ln w="12700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275320" y="1691640"/>
            <a:ext cx="28346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0" y="185623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842248" y="1819656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23B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识别冗余执行分支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868680" y="3703320"/>
            <a:ext cx="2834640" cy="1051560"/>
          </a:xfrm>
          <a:prstGeom prst="roundRect">
            <a:avLst>
              <a:gd name="adj" fmla="val 5217"/>
            </a:avLst>
          </a:prstGeom>
          <a:solidFill>
            <a:srgbClr val="D9F3F8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386791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435608" y="3831336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23B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设计状态空间约简算法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3739896" y="4233672"/>
            <a:ext cx="365760" cy="0"/>
          </a:xfrm>
          <a:prstGeom prst="line">
            <a:avLst/>
          </a:prstGeom>
          <a:noFill/>
          <a:ln w="12700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572000" y="3703320"/>
            <a:ext cx="28346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386791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138928" y="3831336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23B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实现自动验证原型</a:t>
            </a:r>
            <a:endParaRPr lang="en-US" sz="1120" dirty="0"/>
          </a:p>
        </p:txBody>
      </p:sp>
      <p:sp>
        <p:nvSpPr>
          <p:cNvPr id="27" name="Shape 25"/>
          <p:cNvSpPr/>
          <p:nvPr/>
        </p:nvSpPr>
        <p:spPr>
          <a:xfrm>
            <a:off x="7443216" y="4233672"/>
            <a:ext cx="365760" cy="0"/>
          </a:xfrm>
          <a:prstGeom prst="line">
            <a:avLst/>
          </a:prstGeom>
          <a:noFill/>
          <a:ln w="12700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275320" y="3703320"/>
            <a:ext cx="28346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12480" y="386791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842248" y="3831336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23B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完成 benchmark 评测</a:t>
            </a:r>
            <a:endParaRPr lang="en-US" sz="1120" dirty="0"/>
          </a:p>
        </p:txBody>
      </p:sp>
      <p:sp>
        <p:nvSpPr>
          <p:cNvPr id="31" name="Text 29"/>
          <p:cNvSpPr/>
          <p:nvPr/>
        </p:nvSpPr>
        <p:spPr>
          <a:xfrm>
            <a:off x="914400" y="58521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3B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重点突破口：第 4 步“状态空间约简”是论文最核心的创新位置，它直接决定工具是否能在更大规模的程序上工作。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23B66"/>
          </a:solidFill>
          <a:ln w="12700">
            <a:solidFill>
              <a:srgbClr val="123B6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6419088"/>
            <a:ext cx="11292840" cy="0"/>
          </a:xfrm>
          <a:prstGeom prst="line">
            <a:avLst/>
          </a:prstGeom>
          <a:noFill/>
          <a:ln w="12700">
            <a:solidFill>
              <a:srgbClr val="D7E3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645566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弱内存自动验证开题答辩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58368" y="411480"/>
            <a:ext cx="512064" cy="310896"/>
          </a:xfrm>
          <a:prstGeom prst="roundRect">
            <a:avLst>
              <a:gd name="adj" fmla="val 17647"/>
            </a:avLst>
          </a:prstGeom>
          <a:solidFill>
            <a:srgbClr val="0891B2"/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452628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25880" y="347472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B6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创新点与难点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25880" y="758952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创新点要讲得稳，难点要讲得实。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914400" y="1463040"/>
            <a:ext cx="4892040" cy="4480560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1627632"/>
            <a:ext cx="4562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B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拟提炼的创新点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115568" y="1847088"/>
            <a:ext cx="4462272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面向 RC11 子模型，构建适合自动验证过程的执行表示。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提出针对弱内存执行图的状态空间约简策略。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实现支持 race 与 assertion 检测的原型工具并完成实验验证。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6172200" y="1463040"/>
            <a:ext cx="5074920" cy="4480560"/>
          </a:xfrm>
          <a:prstGeom prst="roundRect">
            <a:avLst>
              <a:gd name="adj" fmla="val 1224"/>
            </a:avLst>
          </a:prstGeom>
          <a:solidFill>
            <a:srgbClr val="FFFCF5"/>
          </a:solidFill>
          <a:ln w="12700">
            <a:solidFill>
              <a:srgbClr val="F4DE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1627632"/>
            <a:ext cx="4745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770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需要面对的难点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382512" y="1847088"/>
            <a:ext cx="45720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如何在保证语义准确性的同时保持实现可控。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如何识别并消除执行图中的冗余分支。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如何设计公平且有说服力的 benchmark 与对比实验。</a:t>
            </a:r>
            <a:endParaRPr lang="en-US" sz="12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23B66"/>
          </a:solidFill>
          <a:ln w="12700">
            <a:solidFill>
              <a:srgbClr val="123B6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6419088"/>
            <a:ext cx="11292840" cy="0"/>
          </a:xfrm>
          <a:prstGeom prst="line">
            <a:avLst/>
          </a:prstGeom>
          <a:noFill/>
          <a:ln w="12700">
            <a:solidFill>
              <a:srgbClr val="D7E3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645566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弱内存自动验证开题答辩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58368" y="411480"/>
            <a:ext cx="512064" cy="310896"/>
          </a:xfrm>
          <a:prstGeom prst="roundRect">
            <a:avLst>
              <a:gd name="adj" fmla="val 17647"/>
            </a:avLst>
          </a:prstGeom>
          <a:solidFill>
            <a:srgbClr val="0891B2"/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452628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25880" y="347472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B6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进度安排与预期成果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25880" y="758952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用阶段推进保证课题从文献到原型逐步落地。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14400" y="13258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进度安排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234440" y="1965960"/>
            <a:ext cx="0" cy="512064"/>
          </a:xfrm>
          <a:prstGeom prst="line">
            <a:avLst/>
          </a:prstGeom>
          <a:noFill/>
          <a:ln w="12700">
            <a:solidFill>
              <a:srgbClr val="D7E3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51560" y="1947672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19072" y="1856232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23B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前期</a:t>
            </a:r>
            <a:endParaRPr lang="en-US" sz="1180" dirty="0"/>
          </a:p>
        </p:txBody>
      </p:sp>
      <p:sp>
        <p:nvSpPr>
          <p:cNvPr id="13" name="Text 11"/>
          <p:cNvSpPr/>
          <p:nvPr/>
        </p:nvSpPr>
        <p:spPr>
          <a:xfrm>
            <a:off x="2606040" y="1819656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文献阅读、问题收缩、完成开题报告</a:t>
            </a:r>
            <a:endParaRPr lang="en-US" sz="1060" dirty="0"/>
          </a:p>
        </p:txBody>
      </p:sp>
      <p:sp>
        <p:nvSpPr>
          <p:cNvPr id="14" name="Shape 12"/>
          <p:cNvSpPr/>
          <p:nvPr/>
        </p:nvSpPr>
        <p:spPr>
          <a:xfrm>
            <a:off x="1234440" y="2807208"/>
            <a:ext cx="0" cy="512064"/>
          </a:xfrm>
          <a:prstGeom prst="line">
            <a:avLst/>
          </a:prstGeom>
          <a:noFill/>
          <a:ln w="12700">
            <a:solidFill>
              <a:srgbClr val="D7E3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2788920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19072" y="2697480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23B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中期一</a:t>
            </a:r>
            <a:endParaRPr lang="en-US" sz="1180" dirty="0"/>
          </a:p>
        </p:txBody>
      </p:sp>
      <p:sp>
        <p:nvSpPr>
          <p:cNvPr id="17" name="Text 15"/>
          <p:cNvSpPr/>
          <p:nvPr/>
        </p:nvSpPr>
        <p:spPr>
          <a:xfrm>
            <a:off x="2606040" y="2660904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设计执行表示并实现候选执行图构造</a:t>
            </a:r>
            <a:endParaRPr lang="en-US" sz="1060" dirty="0"/>
          </a:p>
        </p:txBody>
      </p:sp>
      <p:sp>
        <p:nvSpPr>
          <p:cNvPr id="18" name="Shape 16"/>
          <p:cNvSpPr/>
          <p:nvPr/>
        </p:nvSpPr>
        <p:spPr>
          <a:xfrm>
            <a:off x="1234440" y="3648456"/>
            <a:ext cx="0" cy="512064"/>
          </a:xfrm>
          <a:prstGeom prst="line">
            <a:avLst/>
          </a:prstGeom>
          <a:noFill/>
          <a:ln w="12700">
            <a:solidFill>
              <a:srgbClr val="D7E3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3630168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719072" y="353872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23B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中期二</a:t>
            </a:r>
            <a:endParaRPr lang="en-US" sz="1180" dirty="0"/>
          </a:p>
        </p:txBody>
      </p:sp>
      <p:sp>
        <p:nvSpPr>
          <p:cNvPr id="21" name="Text 19"/>
          <p:cNvSpPr/>
          <p:nvPr/>
        </p:nvSpPr>
        <p:spPr>
          <a:xfrm>
            <a:off x="2606040" y="350215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完成约简策略与错误检测逻辑</a:t>
            </a:r>
            <a:endParaRPr lang="en-US" sz="1060" dirty="0"/>
          </a:p>
        </p:txBody>
      </p:sp>
      <p:sp>
        <p:nvSpPr>
          <p:cNvPr id="22" name="Shape 20"/>
          <p:cNvSpPr/>
          <p:nvPr/>
        </p:nvSpPr>
        <p:spPr>
          <a:xfrm>
            <a:off x="1234440" y="4489704"/>
            <a:ext cx="0" cy="512064"/>
          </a:xfrm>
          <a:prstGeom prst="line">
            <a:avLst/>
          </a:prstGeom>
          <a:noFill/>
          <a:ln w="12700">
            <a:solidFill>
              <a:srgbClr val="D7E3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51560" y="4471416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19072" y="43799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23B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后期</a:t>
            </a:r>
            <a:endParaRPr lang="en-US" sz="1180" dirty="0"/>
          </a:p>
        </p:txBody>
      </p:sp>
      <p:sp>
        <p:nvSpPr>
          <p:cNvPr id="25" name="Text 23"/>
          <p:cNvSpPr/>
          <p:nvPr/>
        </p:nvSpPr>
        <p:spPr>
          <a:xfrm>
            <a:off x="2606040" y="43434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实验评测、论文写作、答辩准备</a:t>
            </a:r>
            <a:endParaRPr lang="en-US" sz="1060" dirty="0"/>
          </a:p>
        </p:txBody>
      </p:sp>
      <p:sp>
        <p:nvSpPr>
          <p:cNvPr id="26" name="Shape 24"/>
          <p:cNvSpPr/>
          <p:nvPr/>
        </p:nvSpPr>
        <p:spPr>
          <a:xfrm>
            <a:off x="6812280" y="1691640"/>
            <a:ext cx="4434840" cy="4251960"/>
          </a:xfrm>
          <a:prstGeom prst="roundRect">
            <a:avLst>
              <a:gd name="adj" fmla="val 1290"/>
            </a:avLst>
          </a:prstGeom>
          <a:solidFill>
            <a:srgbClr val="F2FBFD"/>
          </a:solidFill>
          <a:ln w="12700">
            <a:solidFill>
              <a:srgbClr val="D9F3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76872" y="1856232"/>
            <a:ext cx="4105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B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预期成果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040880" y="2084832"/>
            <a:ext cx="39776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18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一套面向 RC11 的程序执行表示方法</a:t>
            </a:r>
            <a:endParaRPr lang="en-US" sz="1180" dirty="0"/>
          </a:p>
          <a:p>
            <a:pPr marL="177800" indent="-177800">
              <a:buSzPct val="100000"/>
              <a:buChar char="•"/>
            </a:pPr>
            <a:r>
              <a:rPr lang="en-US" sz="118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一种状态空间约简方法</a:t>
            </a:r>
            <a:endParaRPr lang="en-US" sz="1180" dirty="0"/>
          </a:p>
          <a:p>
            <a:pPr marL="177800" indent="-177800">
              <a:buSzPct val="100000"/>
              <a:buChar char="•"/>
            </a:pPr>
            <a:r>
              <a:rPr lang="en-US" sz="118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一个自动验证原型工具</a:t>
            </a:r>
            <a:endParaRPr lang="en-US" sz="1180" dirty="0"/>
          </a:p>
          <a:p>
            <a:pPr marL="177800" indent="-177800">
              <a:buSzPct val="100000"/>
              <a:buChar char="•"/>
            </a:pPr>
            <a:r>
              <a:rPr lang="en-US" sz="118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一组 benchmark 实验结果</a:t>
            </a:r>
            <a:endParaRPr lang="en-US" sz="1180" dirty="0"/>
          </a:p>
          <a:p>
            <a:pPr marL="177800" indent="-177800">
              <a:buSzPct val="100000"/>
              <a:buChar char="•"/>
            </a:pPr>
            <a:r>
              <a:rPr lang="en-US" sz="118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一篇结构完整的硕士论文</a:t>
            </a:r>
            <a:endParaRPr lang="en-US" sz="1180" dirty="0"/>
          </a:p>
        </p:txBody>
      </p:sp>
      <p:sp>
        <p:nvSpPr>
          <p:cNvPr id="29" name="Text 27"/>
          <p:cNvSpPr/>
          <p:nvPr/>
        </p:nvSpPr>
        <p:spPr>
          <a:xfrm>
            <a:off x="7040880" y="562356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6A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可行性判断：对象可控、基础充分、目标适中。</a:t>
            </a:r>
            <a:endParaRPr lang="en-US" sz="11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3B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10195560" y="621792"/>
            <a:ext cx="1051560" cy="1051560"/>
          </a:xfrm>
          <a:prstGeom prst="rect">
            <a:avLst/>
          </a:prstGeom>
          <a:solidFill>
            <a:srgbClr val="0891B2">
              <a:alpha val="18000"/>
            </a:srgbClr>
          </a:solidFill>
          <a:ln w="12700">
            <a:solidFill>
              <a:srgbClr val="0891B2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10899648" y="1417320"/>
            <a:ext cx="420624" cy="420624"/>
          </a:xfrm>
          <a:prstGeom prst="rect">
            <a:avLst/>
          </a:prstGeom>
          <a:solidFill>
            <a:srgbClr val="D9F3F8">
              <a:alpha val="25000"/>
            </a:srgbClr>
          </a:solidFill>
          <a:ln w="12700">
            <a:solidFill>
              <a:srgbClr val="D9F3F8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4173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谢谢各位老师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148840"/>
            <a:ext cx="6720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F4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本课题将围绕 RC11 弱内存模型下自动验证的效率问题展开研究，希望在可控模型范围内，形成一套兼顾理论性与可实现性的验证方案。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96112" y="3246120"/>
            <a:ext cx="2560320" cy="0"/>
          </a:xfrm>
          <a:prstGeom prst="line">
            <a:avLst/>
          </a:prstGeom>
          <a:noFill/>
          <a:ln w="12700">
            <a:solidFill>
              <a:srgbClr val="0891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" y="3749040"/>
            <a:ext cx="2468880" cy="1097280"/>
          </a:xfrm>
          <a:prstGeom prst="roundRect">
            <a:avLst>
              <a:gd name="adj" fmla="val 5000"/>
            </a:avLst>
          </a:prstGeom>
          <a:solidFill>
            <a:srgbClr val="1A4B7D"/>
          </a:solidFill>
          <a:ln w="12700">
            <a:solidFill>
              <a:srgbClr val="2F699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0704" y="3913632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F3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后续可继续补充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60704" y="4224528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NaN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学校模板版开题报告</a:t>
            </a:r>
            <a:endParaRPr lang="en-US" sz="NaN" dirty="0"/>
          </a:p>
          <a:p>
            <a:pPr indent="0" marL="0">
              <a:buNone/>
            </a:pPr>
            <a:r>
              <a:rPr lang="en-US" sz="NaN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正式答辩 PPT 内容细化</a:t>
            </a:r>
            <a:endParaRPr lang="en-US" sz="NaN" dirty="0"/>
          </a:p>
        </p:txBody>
      </p:sp>
      <p:sp>
        <p:nvSpPr>
          <p:cNvPr id="10" name="Shape 8"/>
          <p:cNvSpPr/>
          <p:nvPr/>
        </p:nvSpPr>
        <p:spPr>
          <a:xfrm>
            <a:off x="3657600" y="3749040"/>
            <a:ext cx="2468880" cy="1097280"/>
          </a:xfrm>
          <a:prstGeom prst="roundRect">
            <a:avLst>
              <a:gd name="adj" fmla="val 5000"/>
            </a:avLst>
          </a:prstGeom>
          <a:solidFill>
            <a:srgbClr val="1A4B7D"/>
          </a:solidFill>
          <a:ln w="12700">
            <a:solidFill>
              <a:srgbClr val="2F699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22192" y="3913632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F3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答辩准备重点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822192" y="4224528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NaN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为什么选 RC11</a:t>
            </a:r>
            <a:endParaRPr lang="en-US" sz="NaN" dirty="0"/>
          </a:p>
          <a:p>
            <a:pPr indent="0" marL="0">
              <a:buNone/>
            </a:pPr>
            <a:r>
              <a:rPr lang="en-US" sz="NaN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创新点与已有方法差别</a:t>
            </a:r>
            <a:endParaRPr lang="en-US" sz="NaN" dirty="0"/>
          </a:p>
        </p:txBody>
      </p:sp>
      <p:sp>
        <p:nvSpPr>
          <p:cNvPr id="13" name="Shape 11"/>
          <p:cNvSpPr/>
          <p:nvPr/>
        </p:nvSpPr>
        <p:spPr>
          <a:xfrm>
            <a:off x="6419088" y="3749040"/>
            <a:ext cx="2468880" cy="1097280"/>
          </a:xfrm>
          <a:prstGeom prst="roundRect">
            <a:avLst>
              <a:gd name="adj" fmla="val 5000"/>
            </a:avLst>
          </a:prstGeom>
          <a:solidFill>
            <a:srgbClr val="1A4B7D"/>
          </a:solidFill>
          <a:ln w="12700">
            <a:solidFill>
              <a:srgbClr val="2F699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3913632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F3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实验准备重点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83680" y="4224528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NaN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benchmark 选择</a:t>
            </a:r>
            <a:endParaRPr lang="en-US" sz="NaN" dirty="0"/>
          </a:p>
          <a:p>
            <a:pPr indent="0" marL="0">
              <a:buNone/>
            </a:pPr>
            <a:r>
              <a:rPr lang="en-US" sz="NaN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约简前后对比指标</a:t>
            </a:r>
            <a:endParaRPr lang="en-US" sz="NaN" dirty="0"/>
          </a:p>
        </p:txBody>
      </p:sp>
      <p:sp>
        <p:nvSpPr>
          <p:cNvPr id="16" name="Text 14"/>
          <p:cNvSpPr/>
          <p:nvPr/>
        </p:nvSpPr>
        <p:spPr>
          <a:xfrm>
            <a:off x="896112" y="5897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 &amp; 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erif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Trae Work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面向 RC11 弱内存模型的并发程序自动验证与状态空间约简方法研究</dc:title>
  <dc:subject>弱内存自动验证开题答辩</dc:subject>
  <dc:creator>Trae Work</dc:creator>
  <cp:lastModifiedBy>Trae Work</cp:lastModifiedBy>
  <cp:revision>1</cp:revision>
  <dcterms:created xsi:type="dcterms:W3CDTF">2026-09-06T08:25:21Z</dcterms:created>
  <dcterms:modified xsi:type="dcterms:W3CDTF">2026-09-06T08:25:21Z</dcterms:modified>
</cp:coreProperties>
</file>